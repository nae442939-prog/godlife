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2-1.jpg" ContentType="image/jpg"/>
  <Override PartName="/ppt/media/image-12-2.jpg" ContentType="image/jpg"/>
  <Override PartName="/ppt/media/image-13-1.jpg" ContentType="image/jpg"/>
  <Override PartName="/ppt/media/image-13-2.jpg" ContentType="image/jpg"/>
  <Override PartName="/ppt/media/image-14-1.jpg" ContentType="image/jpg"/>
  <Override PartName="/ppt/media/image-15-1.jpg" ContentType="image/jpg"/>
  <Override PartName="/ppt/media/image-15-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45375" y="2468880"/>
            <a:ext cx="5852160" cy="5852160"/>
          </a:xfrm>
          <a:prstGeom prst="ellipse">
            <a:avLst/>
          </a:prstGeom>
          <a:ln w="15875">
            <a:solidFill>
              <a:srgbClr val="11271C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85455" y="3108960"/>
            <a:ext cx="4572000" cy="4572000"/>
          </a:xfrm>
          <a:prstGeom prst="ellipse">
            <a:avLst/>
          </a:prstGeom>
          <a:ln w="15875">
            <a:solidFill>
              <a:srgbClr val="11271C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25535" y="3749040"/>
            <a:ext cx="3291840" cy="3291840"/>
          </a:xfrm>
          <a:prstGeom prst="ellipse">
            <a:avLst/>
          </a:prstGeom>
          <a:ln w="15875">
            <a:solidFill>
              <a:srgbClr val="168B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60559" y="5084064"/>
            <a:ext cx="621792" cy="621792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6" name="Text 4"/>
          <p:cNvSpPr/>
          <p:nvPr/>
        </p:nvSpPr>
        <p:spPr>
          <a:xfrm>
            <a:off x="9960559" y="50566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INDIVIDUAL PROJECT PORTFOLIO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874520"/>
            <a:ext cx="9601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갓생살기</a:t>
            </a:r>
            <a:endParaRPr lang="en-US" sz="6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AFC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GodLife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640080" y="37947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FC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포인트를 걸고, 매일 사진으로 증명하는 습관 챌린지 서비스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5806440"/>
            <a:ext cx="10881360" cy="0"/>
          </a:xfrm>
          <a:prstGeom prst="line">
            <a:avLst/>
          </a:prstGeom>
          <a:noFill/>
          <a:ln w="12700">
            <a:solidFill>
              <a:srgbClr val="1127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5989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FC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2026.09.22 – 2026.10.16 (25일) · 개인 프로젝트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80841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조승희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3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42316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731520" y="3429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49808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C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기획부터 설계, AI 인증까지 혼자 기획하고 완성한 습관 챌린지 서비스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002975" y="6263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127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92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57255" y="64922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02920" cy="41148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8" name="Shape 6"/>
          <p:cNvSpPr/>
          <p:nvPr/>
        </p:nvSpPr>
        <p:spPr>
          <a:xfrm>
            <a:off x="8396935" y="36576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E6F2EA"/>
          </a:solidFill>
          <a:ln/>
        </p:spPr>
      </p:sp>
      <p:sp>
        <p:nvSpPr>
          <p:cNvPr id="9" name="Text 7"/>
          <p:cNvSpPr/>
          <p:nvPr/>
        </p:nvSpPr>
        <p:spPr>
          <a:xfrm>
            <a:off x="8396935" y="365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B2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 · 조승희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17830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63040" y="175564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선정된 주제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297680" y="1755648"/>
            <a:ext cx="7208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포인트를 걸고 매일 사진으로 인증하는 습관 챌린지 서비스 '갓생살기' — 성공하면 건 원금을 그대로 돌려받고, 실패분은 성공한 사람들에게 보상 포인트로 재분배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94360" y="2816352"/>
            <a:ext cx="11002975" cy="0"/>
          </a:xfrm>
          <a:prstGeom prst="line">
            <a:avLst/>
          </a:prstGeom>
          <a:noFill/>
          <a:ln w="12700">
            <a:solidFill>
              <a:srgbClr val="DDD8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2004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63040" y="317296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297680" y="3172968"/>
            <a:ext cx="7208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"내일부터는…" 하고 다짐만 하고 지키지 못하는 문제를, 포인트라는 강제성으로 해결. 초기엔 실패자 포인트를 나눠 갖는 구조였지만 도박처럼 보일 수 있어, 원금은 환급하고 보상은 포인트 상점 전용으로만 쓰도록 구조를 바꿈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94360" y="4233672"/>
            <a:ext cx="11002975" cy="0"/>
          </a:xfrm>
          <a:prstGeom prst="line">
            <a:avLst/>
          </a:prstGeom>
          <a:noFill/>
          <a:ln w="12700">
            <a:solidFill>
              <a:srgbClr val="DDD8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6177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63040" y="459028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사용자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297680" y="4590288"/>
            <a:ext cx="7208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 · 공부 · 독서 · 기상처럼 혼자서는 작심삼일이 되기 쉬운 습관을, 포인트의 강제성으로 끝까지 지키고 싶은 사람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92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57255" y="64922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구조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02920" cy="41148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2103120"/>
            <a:ext cx="2110664" cy="3017520"/>
          </a:xfrm>
          <a:prstGeom prst="roundRect">
            <a:avLst>
              <a:gd name="adj" fmla="val 5199"/>
            </a:avLst>
          </a:prstGeom>
          <a:solidFill>
            <a:srgbClr val="FFFFFF"/>
          </a:solidFill>
          <a:ln w="12700">
            <a:solidFill>
              <a:srgbClr val="E6E2D6"/>
            </a:solidFill>
            <a:prstDash val="solid"/>
          </a:ln>
          <a:effectLst>
            <a:outerShdw sx="100000" sy="100000" kx="0" ky="0" algn="bl" rotWithShape="0" blurRad="76200" dist="25400" dir="5400000">
              <a:srgbClr val="C9C4B4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514600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77240" y="3246120"/>
            <a:ext cx="1562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다짐의 포인트화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3977640"/>
            <a:ext cx="1562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챌린지 개설 · 참여, 포인트 걸기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887904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9B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3527984" y="2103120"/>
            <a:ext cx="2110664" cy="3017520"/>
          </a:xfrm>
          <a:prstGeom prst="roundRect">
            <a:avLst>
              <a:gd name="adj" fmla="val 5199"/>
            </a:avLst>
          </a:prstGeom>
          <a:solidFill>
            <a:srgbClr val="FFFFFF"/>
          </a:solidFill>
          <a:ln w="12700">
            <a:solidFill>
              <a:srgbClr val="E6E2D6"/>
            </a:solidFill>
            <a:prstDash val="solid"/>
          </a:ln>
          <a:effectLst>
            <a:outerShdw sx="100000" sy="100000" kx="0" ky="0" algn="bl" rotWithShape="0" blurRad="76200" dist="25400" dir="5400000">
              <a:srgbClr val="C9C4B4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802304" y="2514600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802304" y="3246120"/>
            <a:ext cx="1562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사진 인증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802304" y="3977640"/>
            <a:ext cx="1562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직촬, 서버 수신 시각 기준 판정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912968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9B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553048" y="2103120"/>
            <a:ext cx="2110664" cy="3017520"/>
          </a:xfrm>
          <a:prstGeom prst="roundRect">
            <a:avLst>
              <a:gd name="adj" fmla="val 5199"/>
            </a:avLst>
          </a:prstGeom>
          <a:solidFill>
            <a:srgbClr val="FFFFFF"/>
          </a:solidFill>
          <a:ln w="12700">
            <a:solidFill>
              <a:srgbClr val="E6E2D6"/>
            </a:solidFill>
            <a:prstDash val="solid"/>
          </a:ln>
          <a:effectLst>
            <a:outerShdw sx="100000" sy="100000" kx="0" ky="0" algn="bl" rotWithShape="0" blurRad="76200" dist="25400" dir="5400000">
              <a:srgbClr val="C9C4B4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27368" y="2514600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827368" y="3246120"/>
            <a:ext cx="1562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자동 판정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827368" y="3977640"/>
            <a:ext cx="1562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학습한 모델이 1차로 판정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938031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9B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578111" y="2103120"/>
            <a:ext cx="2110664" cy="3017520"/>
          </a:xfrm>
          <a:prstGeom prst="roundRect">
            <a:avLst>
              <a:gd name="adj" fmla="val 5199"/>
            </a:avLst>
          </a:prstGeom>
          <a:solidFill>
            <a:srgbClr val="173B29"/>
          </a:solidFill>
          <a:ln/>
        </p:spPr>
      </p:sp>
      <p:sp>
        <p:nvSpPr>
          <p:cNvPr id="24" name="Text 22"/>
          <p:cNvSpPr/>
          <p:nvPr/>
        </p:nvSpPr>
        <p:spPr>
          <a:xfrm>
            <a:off x="9852431" y="2514600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2A9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852431" y="3246120"/>
            <a:ext cx="1562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&amp; 보상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852431" y="3977640"/>
            <a:ext cx="1562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7D9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자정 배치 정산, 원금 환급 + 보상 지급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2920" y="55778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다짐을 결과로 바꾸는 폐쇄형 포인트 루프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92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57255" y="64922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정의서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02920" cy="41148"/>
          </a:xfrm>
          <a:prstGeom prst="rect">
            <a:avLst/>
          </a:prstGeom>
          <a:solidFill>
            <a:srgbClr val="168B4A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18585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357055"/>
              </a:tblGrid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 · 소셜(카카오 · 구글 · 네이버) 로그인, 휴대폰 본인인증(계정당 1개), 자동 로그인, 회원 탈퇴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챌린지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 · 포인트 개설, 매일 · 주 N회, 비공개 챌린지 + 초대 링크, 둘러보기 · 검색 ·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 직촬 사진 인증, AI 자동 판정, 재사용 사진 탐지, 관리자 검토, 인증 신고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포인트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지갑(충전 · 보상 분리), 거래 원장, 매일 정산 · 종료 시 지급, 토스페이먼츠 결제(테스트) · 환불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랭킹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· 친구 · 내 챌린지 랭킹, 주간 · 월간 시즌 랭킹(상위 3명 보너스), 티어 승급 · 강등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갓생기록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일기장, 성공 · 실패 캘린더, 주간 회고 리포트(성공률 · 코칭 문구)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뱃지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기록으로 계산하는 뱃지 15개 + 관리자 뱃지, 하나를 골라 이름 옆에 착용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팔로우, 1:1 메시지, 챌린지 오픈채팅(실시간), 커뮤니티, 차단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포인트 상점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 · 찜 · 장바구니 · 주문 · 주문 취소, 관리자 상품 · 주문 관리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부정행위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담합 의심 표시, 기기 핑거프린팅(다중 계정 탐지), 요청 횟수 제한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검토, 담합 · 다중 계정 의심, 신고 처리, 1:1 문의(웹 · 앱)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92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57255" y="64922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 &amp; 아키텍처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02920" cy="41148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62763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STACK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1208" y="2139696"/>
            <a:ext cx="82296" cy="82296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" y="2002536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58952" y="2313432"/>
            <a:ext cx="3264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 + Vite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21208" y="2980944"/>
            <a:ext cx="82296" cy="82296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2843784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58952" y="3154680"/>
            <a:ext cx="3264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(Dart) — 안드로이드 APK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21208" y="3822192"/>
            <a:ext cx="82296" cy="82296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" y="3685032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58952" y="3995928"/>
            <a:ext cx="3264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21 + Spring Boot 4, JPA/JDBC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21208" y="4663440"/>
            <a:ext cx="82296" cy="82296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19" name="Text 17"/>
          <p:cNvSpPr/>
          <p:nvPr/>
        </p:nvSpPr>
        <p:spPr>
          <a:xfrm>
            <a:off x="758952" y="4526280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58952" y="4837176"/>
            <a:ext cx="3264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 8 (InnoDB, utf8mb4)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21208" y="5504688"/>
            <a:ext cx="82296" cy="82296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" y="5367528"/>
            <a:ext cx="3264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서버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58952" y="5678424"/>
            <a:ext cx="3264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+ FastAPI + PyTorch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480560" y="1508760"/>
            <a:ext cx="720821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6E2D6"/>
            </a:solidFill>
            <a:prstDash val="solid"/>
          </a:ln>
          <a:effectLst>
            <a:outerShdw sx="100000" sy="100000" kx="0" ky="0" algn="bl" rotWithShape="0" blurRad="101600" dist="25400" dir="5400000">
              <a:srgbClr val="C9C4B4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480560" y="1764792"/>
            <a:ext cx="7208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· 앱 → nginx → Spring Boot ↔ MySQL / FastAPI / 토스페이먼츠</a:t>
            </a:r>
            <a:endParaRPr lang="en-US" sz="1300" dirty="0"/>
          </a:p>
        </p:txBody>
      </p:sp>
      <p:pic>
        <p:nvPicPr>
          <p:cNvPr id="26" name="Image 0" descr="/home/claude/godlife_ppt/assets/arch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2514600"/>
            <a:ext cx="6293815" cy="1937866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4846320" y="5074920"/>
            <a:ext cx="6476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서버를 따로 둔 이유: Java 에서 PyTorch 학습 모델을 직접 실행할 수 없어, 백엔드가 HTTP 로 호출 — 꺼져 있으면 AI 판정만 건너뜀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92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57255" y="64922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ERD 구조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02920" cy="41148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8" name="Shape 6"/>
          <p:cNvSpPr/>
          <p:nvPr/>
        </p:nvSpPr>
        <p:spPr>
          <a:xfrm>
            <a:off x="8396935" y="36576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E6F2EA"/>
          </a:solidFill>
          <a:ln/>
        </p:spPr>
      </p:sp>
      <p:sp>
        <p:nvSpPr>
          <p:cNvPr id="9" name="Text 7"/>
          <p:cNvSpPr/>
          <p:nvPr/>
        </p:nvSpPr>
        <p:spPr>
          <a:xfrm>
            <a:off x="8396935" y="365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B2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58개 테이블 · FK 89개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162763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10개 도메인으로 분리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21208" y="2084832"/>
            <a:ext cx="73152" cy="73152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12" name="Text 10"/>
          <p:cNvSpPr/>
          <p:nvPr/>
        </p:nvSpPr>
        <p:spPr>
          <a:xfrm>
            <a:off x="740664" y="1947672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· 인증 · 티어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40664" y="2185416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users · social_accounts · devices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1208" y="2647188"/>
            <a:ext cx="73152" cy="73152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15" name="Text 13"/>
          <p:cNvSpPr/>
          <p:nvPr/>
        </p:nvSpPr>
        <p:spPr>
          <a:xfrm>
            <a:off x="740664" y="2510028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챌린지 코어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40664" y="2747772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challenges · participants · chat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21208" y="3209544"/>
            <a:ext cx="73152" cy="73152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18" name="Text 16"/>
          <p:cNvSpPr/>
          <p:nvPr/>
        </p:nvSpPr>
        <p:spPr>
          <a:xfrm>
            <a:off x="740664" y="3072384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AI 검증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0664" y="3310128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verifications · ai_inference_results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21208" y="3771900"/>
            <a:ext cx="73152" cy="73152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21" name="Text 19"/>
          <p:cNvSpPr/>
          <p:nvPr/>
        </p:nvSpPr>
        <p:spPr>
          <a:xfrm>
            <a:off x="740664" y="3634740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포인트 · 원장 · 정산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0664" y="3872484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wallets · point_transactions · settlements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" y="4334256"/>
            <a:ext cx="73152" cy="73152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24" name="Text 22"/>
          <p:cNvSpPr/>
          <p:nvPr/>
        </p:nvSpPr>
        <p:spPr>
          <a:xfrm>
            <a:off x="740664" y="4197096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· 시즌 · 부정행위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40664" y="4434840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user_stats · seasons · collusion_flags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21208" y="4896612"/>
            <a:ext cx="73152" cy="73152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27" name="Text 25"/>
          <p:cNvSpPr/>
          <p:nvPr/>
        </p:nvSpPr>
        <p:spPr>
          <a:xfrm>
            <a:off x="740664" y="4759452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소셜 · 배지 · 커뮤니티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40664" y="4997196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follows · badges · posts · diary_entries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21208" y="5458968"/>
            <a:ext cx="73152" cy="73152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30" name="Text 28"/>
          <p:cNvSpPr/>
          <p:nvPr/>
        </p:nvSpPr>
        <p:spPr>
          <a:xfrm>
            <a:off x="740664" y="5321808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리텐션 · 마켓플레이스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40664" y="5559552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notifications · products · orders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80560" y="1508760"/>
            <a:ext cx="720821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6E2D6"/>
            </a:solidFill>
            <a:prstDash val="solid"/>
          </a:ln>
          <a:effectLst>
            <a:outerShdw sx="100000" sy="100000" kx="0" ky="0" algn="bl" rotWithShape="0" blurRad="101600" dist="25400" dir="5400000">
              <a:srgbClr val="C9C4B4">
                <a:alpha val="3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480560" y="1746504"/>
            <a:ext cx="7208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58개 테이블 · 전체 관계도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480560" y="2039112"/>
            <a:ext cx="7208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 없이 테이블 사이의 관계만 그린 구조도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54880" y="2395728"/>
            <a:ext cx="6385255" cy="1071189"/>
          </a:xfrm>
          <a:prstGeom prst="roundRect">
            <a:avLst>
              <a:gd name="adj" fmla="val 5122"/>
            </a:avLst>
          </a:prstGeom>
          <a:solidFill>
            <a:srgbClr val="F7F5EE"/>
          </a:solidFill>
          <a:ln w="9525">
            <a:solidFill>
              <a:srgbClr val="E6E2D6"/>
            </a:solidFill>
            <a:prstDash val="solid"/>
          </a:ln>
        </p:spPr>
      </p:sp>
      <p:pic>
        <p:nvPicPr>
          <p:cNvPr id="36" name="Image 0" descr="/home/claude/godlife_ppt/assets/erd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2560320"/>
            <a:ext cx="6110935" cy="742005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4480560" y="3896685"/>
            <a:ext cx="24027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</a:t>
            </a:r>
            <a:endParaRPr lang="en-US" sz="3400" dirty="0"/>
          </a:p>
        </p:txBody>
      </p:sp>
      <p:sp>
        <p:nvSpPr>
          <p:cNvPr id="38" name="Text 35"/>
          <p:cNvSpPr/>
          <p:nvPr/>
        </p:nvSpPr>
        <p:spPr>
          <a:xfrm>
            <a:off x="4480560" y="4555053"/>
            <a:ext cx="2402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883298" y="3969837"/>
            <a:ext cx="0" cy="685800"/>
          </a:xfrm>
          <a:prstGeom prst="line">
            <a:avLst/>
          </a:prstGeom>
          <a:noFill/>
          <a:ln w="12700">
            <a:solidFill>
              <a:srgbClr val="E6E2D6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883298" y="3896685"/>
            <a:ext cx="24027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</a:t>
            </a:r>
            <a:endParaRPr lang="en-US" sz="3400" dirty="0"/>
          </a:p>
        </p:txBody>
      </p:sp>
      <p:sp>
        <p:nvSpPr>
          <p:cNvPr id="41" name="Text 38"/>
          <p:cNvSpPr/>
          <p:nvPr/>
        </p:nvSpPr>
        <p:spPr>
          <a:xfrm>
            <a:off x="6883298" y="4555053"/>
            <a:ext cx="2402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FOREIGN KEYS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286037" y="3969837"/>
            <a:ext cx="0" cy="685800"/>
          </a:xfrm>
          <a:prstGeom prst="line">
            <a:avLst/>
          </a:prstGeom>
          <a:noFill/>
          <a:ln w="12700">
            <a:solidFill>
              <a:srgbClr val="E6E2D6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286037" y="3896685"/>
            <a:ext cx="24027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3400" dirty="0"/>
          </a:p>
        </p:txBody>
      </p:sp>
      <p:sp>
        <p:nvSpPr>
          <p:cNvPr id="44" name="Text 41"/>
          <p:cNvSpPr/>
          <p:nvPr/>
        </p:nvSpPr>
        <p:spPr>
          <a:xfrm>
            <a:off x="9286037" y="4555053"/>
            <a:ext cx="2402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DOMAINS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4846320" y="5468112"/>
            <a:ext cx="6476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— 포인트는 전부 BIGINT · 출금/환전 테이블 없음(폐쇄형 포인트 경제) · 카드 정보 비저장(PG 토큰만) · 삭제는 기본 RESTRICT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92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57255" y="64922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정의서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02920" cy="41148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8" name="Shape 6"/>
          <p:cNvSpPr/>
          <p:nvPr/>
        </p:nvSpPr>
        <p:spPr>
          <a:xfrm>
            <a:off x="8396935" y="36576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E6F2EA"/>
          </a:solidFill>
          <a:ln/>
        </p:spPr>
      </p:sp>
      <p:sp>
        <p:nvSpPr>
          <p:cNvPr id="9" name="Text 7"/>
          <p:cNvSpPr/>
          <p:nvPr/>
        </p:nvSpPr>
        <p:spPr>
          <a:xfrm>
            <a:off x="8396935" y="365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B2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1/2 · 회원 · 챌린지 · 인증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18585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1783080"/>
                <a:gridCol w="2331720"/>
                <a:gridCol w="3870655"/>
              </a:tblGrid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컬럼명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타입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제약조건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9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BIGINT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PK, AUTO_INCREMENT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 번호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email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VARCHAR(255)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UNIQUE, NOT NULL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phone_hash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CHAR(64)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UNIQUE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휴대폰 해시 — 계정당 1개(다중계정 방지)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tier_id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FK, DEFAULT 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가입자는 최저 티어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ENUM(...)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NULL, DEFAULT 'ACTIVE'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 · SUSPENDED · WITHDRAWN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challenges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BIGINT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PK, AUTO_INCREMENT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챌린지 번호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host_id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BIGINT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 → users, NOT NULL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개설자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ENUM('FREE','BET')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 · 포인트 베팅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entry_fee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BIGINT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 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참가비(예치 포인트)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invite_code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CHAR(8)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UNIQUE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비공개 챌린지 초대 코드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verifications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BIGINT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PK, AUTO_INCREMENT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번호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participant_id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BIGINT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FK, NOT NULL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챌린지 참가자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image_hash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CHAR(64)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SHA-256 — 동일 사진 즉시 탐지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ENUM(...)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 'PENDING'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PENDING · APPROVED · REJECTED · IN_REVIEW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92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57255" y="64922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정의서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02920" cy="41148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8" name="Shape 6"/>
          <p:cNvSpPr/>
          <p:nvPr/>
        </p:nvSpPr>
        <p:spPr>
          <a:xfrm>
            <a:off x="8396935" y="36576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E6F2EA"/>
          </a:solidFill>
          <a:ln/>
        </p:spPr>
      </p:sp>
      <p:sp>
        <p:nvSpPr>
          <p:cNvPr id="9" name="Text 7"/>
          <p:cNvSpPr/>
          <p:nvPr/>
        </p:nvSpPr>
        <p:spPr>
          <a:xfrm>
            <a:off x="8396935" y="365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B2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 · 포인트 · 정산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185855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600200"/>
                <a:gridCol w="1600200"/>
                <a:gridCol w="1783080"/>
                <a:gridCol w="4327855"/>
              </a:tblGrid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컬럼명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타입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제약조건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wallets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BIGINT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PK, AUTO_INCREMENT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지갑 번호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balance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BIGINT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 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잔액 캐시 — 진실은 point_transactions 합계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charged_balance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BIGINT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 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충전분 — 쓰지 않은 만큼만 환불 가능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reward_balance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BIGINT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 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보상분 — 상점 전용, 환불 · 현금화 불가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point_transactions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BIGINT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PK, AUTO_INCREMENT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 번호 (INSERT-only)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ENUM(...)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CHARGE · REFUND · REWARD · PURCHASE 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amount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BIGINT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있는 증감액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VARCHAR(80)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UNIQUE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요청 재시도 시 이중 지급 방지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settlements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BIGINT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PK, AUTO_INCREMENT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정산 번호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challenge_id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BIGINT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FK, UNIQUE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챌린지당 정산 1회 — 중복 정산 불가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forfeited_pool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BIGINT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 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실패자 몰수분(재분배 원천)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settled_at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DATETIME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NULLABLE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자정 cron 배치가 기록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92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57255" y="64922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인증 판정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02920" cy="41148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627632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MobileNetV2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02920" y="2084832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전이학습 모델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31538" y="1627632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8,747장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231538" y="2084832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7,003 · 검증 1,744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0157" y="1627632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85.2%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960157" y="2084832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정확도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2514600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AI API 없이, ImageNet 으로 학습된 MobileNetV2 를 직접 모은 사진으로 전이학습해 FastAPI 서버에서 추론 — 확신도에 따라 세 갈래로 나눠 바로 확정하지 않는다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46120"/>
          <a:ext cx="1118585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8625535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B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바로 통과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챌린지 카테고리와 같은 라벨로 확신도 60% 이상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바로 거절 (다시 찍기)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라벨을 85% 이상 확신 / 카테고리 점수 30% 미만. 하루 5번을 넘으면 거절 대신 검토로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관리자 검토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사이의 애매한 사진, 또는 과거 인증 사진과 임베딩 코사인 유사도 0.985 이상(재사용 의심)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68B4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건너뜀 (AI 없이 인증)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서버가 꺼져 있으면 AI 없이 인증을 받음 — 서비스가 AI 서버 상태에 묶이지 않도록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92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57255" y="64922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포인트 정산 흐름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02920" cy="41148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2103120"/>
            <a:ext cx="2110664" cy="3017520"/>
          </a:xfrm>
          <a:prstGeom prst="roundRect">
            <a:avLst>
              <a:gd name="adj" fmla="val 5199"/>
            </a:avLst>
          </a:prstGeom>
          <a:solidFill>
            <a:srgbClr val="FFFFFF"/>
          </a:solidFill>
          <a:ln w="12700">
            <a:solidFill>
              <a:srgbClr val="E6E2D6"/>
            </a:solidFill>
            <a:prstDash val="solid"/>
          </a:ln>
          <a:effectLst>
            <a:outerShdw sx="100000" sy="100000" kx="0" ky="0" algn="bl" rotWithShape="0" blurRad="76200" dist="25400" dir="5400000">
              <a:srgbClr val="C9C4B4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514600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77240" y="3246120"/>
            <a:ext cx="1562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자정 배치 집계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3977640"/>
            <a:ext cx="1562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챌린지별 성공 · 실패를 매일 집계 (daily_settlements)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887904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9B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3527984" y="2103120"/>
            <a:ext cx="2110664" cy="3017520"/>
          </a:xfrm>
          <a:prstGeom prst="roundRect">
            <a:avLst>
              <a:gd name="adj" fmla="val 5199"/>
            </a:avLst>
          </a:prstGeom>
          <a:solidFill>
            <a:srgbClr val="FFFFFF"/>
          </a:solidFill>
          <a:ln w="12700">
            <a:solidFill>
              <a:srgbClr val="E6E2D6"/>
            </a:solidFill>
            <a:prstDash val="solid"/>
          </a:ln>
          <a:effectLst>
            <a:outerShdw sx="100000" sy="100000" kx="0" ky="0" algn="bl" rotWithShape="0" blurRad="76200" dist="25400" dir="5400000">
              <a:srgbClr val="C9C4B4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802304" y="2514600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802304" y="3246120"/>
            <a:ext cx="1562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1회 생성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802304" y="3977640"/>
            <a:ext cx="1562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challenge_id UNIQUE — 배치가 두 번 돌아도 중복 정산 불가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912968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9B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553048" y="2103120"/>
            <a:ext cx="2110664" cy="3017520"/>
          </a:xfrm>
          <a:prstGeom prst="roundRect">
            <a:avLst>
              <a:gd name="adj" fmla="val 5199"/>
            </a:avLst>
          </a:prstGeom>
          <a:solidFill>
            <a:srgbClr val="173B29"/>
          </a:solidFill>
          <a:ln/>
        </p:spPr>
      </p:sp>
      <p:sp>
        <p:nvSpPr>
          <p:cNvPr id="19" name="Text 17"/>
          <p:cNvSpPr/>
          <p:nvPr/>
        </p:nvSpPr>
        <p:spPr>
          <a:xfrm>
            <a:off x="6827368" y="2514600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2A9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827368" y="3246120"/>
            <a:ext cx="1562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잠금 · 멱등키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827368" y="3977640"/>
            <a:ext cx="1562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7D9C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트랜잭션 + SELECT…FOR UPDATE + idempotency_key 로 이중 지급 방지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938031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9B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578111" y="2103120"/>
            <a:ext cx="2110664" cy="3017520"/>
          </a:xfrm>
          <a:prstGeom prst="roundRect">
            <a:avLst>
              <a:gd name="adj" fmla="val 5199"/>
            </a:avLst>
          </a:prstGeom>
          <a:solidFill>
            <a:srgbClr val="FFFFFF"/>
          </a:solidFill>
          <a:ln w="12700">
            <a:solidFill>
              <a:srgbClr val="E6E2D6"/>
            </a:solidFill>
            <a:prstDash val="solid"/>
          </a:ln>
          <a:effectLst>
            <a:outerShdw sx="100000" sy="100000" kx="0" ky="0" algn="bl" rotWithShape="0" blurRad="76200" dist="25400" dir="5400000">
              <a:srgbClr val="C9C4B4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852431" y="2514600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852431" y="3246120"/>
            <a:ext cx="15620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 지급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852431" y="3977640"/>
            <a:ext cx="1562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원금은 charged, 보상은 reward 로 분리 지급(토스페이먼츠 테스트 모드)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2920" y="5577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정산이 두 번 실행돼도 포인트는 정확히 한 번만 지급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RESULT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92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RESULT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57255" y="64922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&amp; 가입 축하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02920" cy="41148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8" name="Shape 6"/>
          <p:cNvSpPr/>
          <p:nvPr/>
        </p:nvSpPr>
        <p:spPr>
          <a:xfrm>
            <a:off x="8396935" y="36576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E6F2EA"/>
          </a:solidFill>
          <a:ln/>
        </p:spPr>
      </p:sp>
      <p:sp>
        <p:nvSpPr>
          <p:cNvPr id="9" name="Text 7"/>
          <p:cNvSpPr/>
          <p:nvPr/>
        </p:nvSpPr>
        <p:spPr>
          <a:xfrm>
            <a:off x="8396935" y="365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B2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배포 화면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1691640"/>
            <a:ext cx="2357865" cy="3986784"/>
          </a:xfrm>
          <a:prstGeom prst="roundRect">
            <a:avLst>
              <a:gd name="adj" fmla="val 8532"/>
            </a:avLst>
          </a:prstGeom>
          <a:solidFill>
            <a:srgbClr val="173B29"/>
          </a:solidFill>
          <a:ln/>
          <a:effectLst>
            <a:outerShdw sx="100000" sy="100000" kx="0" ky="0" algn="bl" rotWithShape="0" blurRad="127000" dist="38100" dir="5400000">
              <a:srgbClr val="B9B4A6">
                <a:alpha val="4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53253" y="1746504"/>
            <a:ext cx="457200" cy="64008"/>
          </a:xfrm>
          <a:prstGeom prst="roundRect">
            <a:avLst>
              <a:gd name="adj" fmla="val 50000"/>
            </a:avLst>
          </a:prstGeom>
          <a:solidFill>
            <a:srgbClr val="0B1D14"/>
          </a:solidFill>
          <a:ln/>
        </p:spPr>
      </p:sp>
      <p:pic>
        <p:nvPicPr>
          <p:cNvPr id="12" name="Image 0" descr="/home/claude/godlife_ppt/assets/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929384"/>
            <a:ext cx="2174985" cy="36576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3180825" y="1691640"/>
            <a:ext cx="2357865" cy="3986784"/>
          </a:xfrm>
          <a:prstGeom prst="roundRect">
            <a:avLst>
              <a:gd name="adj" fmla="val 8532"/>
            </a:avLst>
          </a:prstGeom>
          <a:solidFill>
            <a:srgbClr val="173B29"/>
          </a:solidFill>
          <a:ln/>
          <a:effectLst>
            <a:outerShdw sx="100000" sy="100000" kx="0" ky="0" algn="bl" rotWithShape="0" blurRad="127000" dist="38100" dir="5400000">
              <a:srgbClr val="B9B4A6">
                <a:alpha val="4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131158" y="1746504"/>
            <a:ext cx="457200" cy="64008"/>
          </a:xfrm>
          <a:prstGeom prst="roundRect">
            <a:avLst>
              <a:gd name="adj" fmla="val 50000"/>
            </a:avLst>
          </a:prstGeom>
          <a:solidFill>
            <a:srgbClr val="0B1D14"/>
          </a:solidFill>
          <a:ln/>
        </p:spPr>
      </p:sp>
      <p:pic>
        <p:nvPicPr>
          <p:cNvPr id="15" name="Image 1" descr="/home/claude/godlife_ppt/assets/welc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265" y="1929384"/>
            <a:ext cx="2174985" cy="36576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059898" y="1911096"/>
            <a:ext cx="82296" cy="82296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17" name="Text 13"/>
          <p:cNvSpPr/>
          <p:nvPr/>
        </p:nvSpPr>
        <p:spPr>
          <a:xfrm>
            <a:off x="6297642" y="1773936"/>
            <a:ext cx="539113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· 소셜 로그인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6297642" y="2103120"/>
            <a:ext cx="539113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가입 · JWT 로그인, 카카오 · 구글 · 네이버 소셜 로그인 지원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059898" y="3099816"/>
            <a:ext cx="82296" cy="82296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20" name="Text 16"/>
          <p:cNvSpPr/>
          <p:nvPr/>
        </p:nvSpPr>
        <p:spPr>
          <a:xfrm>
            <a:off x="6297642" y="2962656"/>
            <a:ext cx="539113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 본인인증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6297642" y="3291840"/>
            <a:ext cx="539113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번호를 암호화해 저장하고, 번호 하나당 계정 하나만 허용해 다중 계정을 막음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6059898" y="4288536"/>
            <a:ext cx="82296" cy="82296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23" name="Text 19"/>
          <p:cNvSpPr/>
          <p:nvPr/>
        </p:nvSpPr>
        <p:spPr>
          <a:xfrm>
            <a:off x="6297642" y="4151376"/>
            <a:ext cx="539113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직후 온보딩</a:t>
            </a:r>
            <a:endParaRPr lang="en-US" sz="1450" dirty="0"/>
          </a:p>
        </p:txBody>
      </p:sp>
      <p:sp>
        <p:nvSpPr>
          <p:cNvPr id="24" name="Text 20"/>
          <p:cNvSpPr/>
          <p:nvPr/>
        </p:nvSpPr>
        <p:spPr>
          <a:xfrm>
            <a:off x="6297642" y="4480560"/>
            <a:ext cx="539113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시작하는 챌린지와 인증 방법을 바로 안내하는 가입 축하 화면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RESULT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92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RESULT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57255" y="64922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&amp; 챌린지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02920" cy="41148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8" name="Shape 6"/>
          <p:cNvSpPr/>
          <p:nvPr/>
        </p:nvSpPr>
        <p:spPr>
          <a:xfrm>
            <a:off x="8396935" y="36576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E6F2EA"/>
          </a:solidFill>
          <a:ln/>
        </p:spPr>
      </p:sp>
      <p:sp>
        <p:nvSpPr>
          <p:cNvPr id="9" name="Text 7"/>
          <p:cNvSpPr/>
          <p:nvPr/>
        </p:nvSpPr>
        <p:spPr>
          <a:xfrm>
            <a:off x="8396935" y="365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B2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배포 화면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1691640"/>
            <a:ext cx="2377440" cy="3986784"/>
          </a:xfrm>
          <a:prstGeom prst="roundRect">
            <a:avLst>
              <a:gd name="adj" fmla="val 8462"/>
            </a:avLst>
          </a:prstGeom>
          <a:solidFill>
            <a:srgbClr val="173B29"/>
          </a:solidFill>
          <a:ln/>
          <a:effectLst>
            <a:outerShdw sx="100000" sy="100000" kx="0" ky="0" algn="bl" rotWithShape="0" blurRad="127000" dist="38100" dir="5400000">
              <a:srgbClr val="B9B4A6">
                <a:alpha val="4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63040" y="1746504"/>
            <a:ext cx="457200" cy="64008"/>
          </a:xfrm>
          <a:prstGeom prst="roundRect">
            <a:avLst>
              <a:gd name="adj" fmla="val 50000"/>
            </a:avLst>
          </a:prstGeom>
          <a:solidFill>
            <a:srgbClr val="0B1D14"/>
          </a:solidFill>
          <a:ln/>
        </p:spPr>
      </p:sp>
      <p:pic>
        <p:nvPicPr>
          <p:cNvPr id="12" name="Image 0" descr="/home/claude/godlife_ppt/assets/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929384"/>
            <a:ext cx="2194560" cy="36576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3200400" y="1691640"/>
            <a:ext cx="2377440" cy="3979469"/>
          </a:xfrm>
          <a:prstGeom prst="roundRect">
            <a:avLst>
              <a:gd name="adj" fmla="val 8462"/>
            </a:avLst>
          </a:prstGeom>
          <a:solidFill>
            <a:srgbClr val="173B29"/>
          </a:solidFill>
          <a:ln/>
          <a:effectLst>
            <a:outerShdw sx="100000" sy="100000" kx="0" ky="0" algn="bl" rotWithShape="0" blurRad="127000" dist="38100" dir="5400000">
              <a:srgbClr val="B9B4A6">
                <a:alpha val="4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160520" y="1746504"/>
            <a:ext cx="457200" cy="64008"/>
          </a:xfrm>
          <a:prstGeom prst="roundRect">
            <a:avLst>
              <a:gd name="adj" fmla="val 50000"/>
            </a:avLst>
          </a:prstGeom>
          <a:solidFill>
            <a:srgbClr val="0B1D14"/>
          </a:solidFill>
          <a:ln/>
        </p:spPr>
      </p:sp>
      <p:pic>
        <p:nvPicPr>
          <p:cNvPr id="15" name="Image 1" descr="/home/claude/godlife_ppt/assets/challeng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929384"/>
            <a:ext cx="2194560" cy="3650285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099048" y="1911096"/>
            <a:ext cx="82296" cy="82296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17" name="Text 13"/>
          <p:cNvSpPr/>
          <p:nvPr/>
        </p:nvSpPr>
        <p:spPr>
          <a:xfrm>
            <a:off x="6336792" y="1773936"/>
            <a:ext cx="53519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인증할 챌린지 한눈에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6336792" y="2103120"/>
            <a:ext cx="53519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홈에서 오늘 인증해야 할 챌린지와 진행 현황을 바로 확인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099048" y="3099816"/>
            <a:ext cx="82296" cy="82296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20" name="Text 16"/>
          <p:cNvSpPr/>
          <p:nvPr/>
        </p:nvSpPr>
        <p:spPr>
          <a:xfrm>
            <a:off x="6336792" y="2962656"/>
            <a:ext cx="53519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둘러보기 · 검색 · 정렬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6336792" y="3291840"/>
            <a:ext cx="53519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· 무료 · 포인트 · 운동 · 공부 · 독서 등 카테고리별 탐색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6099048" y="4288536"/>
            <a:ext cx="82296" cy="82296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23" name="Text 19"/>
          <p:cNvSpPr/>
          <p:nvPr/>
        </p:nvSpPr>
        <p:spPr>
          <a:xfrm>
            <a:off x="6336792" y="4151376"/>
            <a:ext cx="53519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비공개 챌린지</a:t>
            </a:r>
            <a:endParaRPr lang="en-US" sz="1450" dirty="0"/>
          </a:p>
        </p:txBody>
      </p:sp>
      <p:sp>
        <p:nvSpPr>
          <p:cNvPr id="24" name="Text 20"/>
          <p:cNvSpPr/>
          <p:nvPr/>
        </p:nvSpPr>
        <p:spPr>
          <a:xfrm>
            <a:off x="6336792" y="4480560"/>
            <a:ext cx="53519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초대 링크로만 참여하는 PRIVATE 챌린지, 개설 · 참여 흐름 지원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RESULT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92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RESULT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57255" y="64922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&amp; 소셜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02920" cy="41148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8" name="Shape 6"/>
          <p:cNvSpPr/>
          <p:nvPr/>
        </p:nvSpPr>
        <p:spPr>
          <a:xfrm>
            <a:off x="8396935" y="36576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E6F2EA"/>
          </a:solidFill>
          <a:ln/>
        </p:spPr>
      </p:sp>
      <p:sp>
        <p:nvSpPr>
          <p:cNvPr id="9" name="Text 7"/>
          <p:cNvSpPr/>
          <p:nvPr/>
        </p:nvSpPr>
        <p:spPr>
          <a:xfrm>
            <a:off x="8396935" y="365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B2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배포 화면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1691640"/>
            <a:ext cx="2395138" cy="3986784"/>
          </a:xfrm>
          <a:prstGeom prst="roundRect">
            <a:avLst>
              <a:gd name="adj" fmla="val 8399"/>
            </a:avLst>
          </a:prstGeom>
          <a:solidFill>
            <a:srgbClr val="173B29"/>
          </a:solidFill>
          <a:ln/>
          <a:effectLst>
            <a:outerShdw sx="100000" sy="100000" kx="0" ky="0" algn="bl" rotWithShape="0" blurRad="127000" dist="38100" dir="5400000">
              <a:srgbClr val="B9B4A6">
                <a:alpha val="4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71889" y="1746504"/>
            <a:ext cx="457200" cy="64008"/>
          </a:xfrm>
          <a:prstGeom prst="roundRect">
            <a:avLst>
              <a:gd name="adj" fmla="val 50000"/>
            </a:avLst>
          </a:prstGeom>
          <a:solidFill>
            <a:srgbClr val="0B1D14"/>
          </a:solidFill>
          <a:ln/>
        </p:spPr>
      </p:sp>
      <p:pic>
        <p:nvPicPr>
          <p:cNvPr id="12" name="Image 0" descr="/home/claude/godlife_ppt/assets/communi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929384"/>
            <a:ext cx="2212258" cy="36576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3419266" y="1865376"/>
            <a:ext cx="82296" cy="82296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14" name="Text 11"/>
          <p:cNvSpPr/>
          <p:nvPr/>
        </p:nvSpPr>
        <p:spPr>
          <a:xfrm>
            <a:off x="3657010" y="1728216"/>
            <a:ext cx="803176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카테고리별 커뮤니티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3657010" y="2057400"/>
            <a:ext cx="80317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· 자유 · 인증 후기 · 팁 · 질문 · 인기 글 작성, 좋아요, 신고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419266" y="2871216"/>
            <a:ext cx="82296" cy="82296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17" name="Text 14"/>
          <p:cNvSpPr/>
          <p:nvPr/>
        </p:nvSpPr>
        <p:spPr>
          <a:xfrm>
            <a:off x="3657010" y="2734056"/>
            <a:ext cx="803176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챌린지 오픈채팅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3657010" y="3063240"/>
            <a:ext cx="80317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챌린지별 실시간 오픈채팅으로 참가자끼리 소통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419266" y="3877056"/>
            <a:ext cx="82296" cy="82296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20" name="Text 17"/>
          <p:cNvSpPr/>
          <p:nvPr/>
        </p:nvSpPr>
        <p:spPr>
          <a:xfrm>
            <a:off x="3657010" y="3739896"/>
            <a:ext cx="803176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팔로우 · 1:1 메시지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3657010" y="4069080"/>
            <a:ext cx="80317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팔로우 기반 관계와 1:1 메시지, 메시지 요청 관리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3419266" y="4882896"/>
            <a:ext cx="82296" cy="82296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010" y="4745736"/>
            <a:ext cx="803176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 기능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3657010" y="5074920"/>
            <a:ext cx="80317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원치 않는 사용자를 차단해 커뮤니티 경험 보호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RESULT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92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RESULT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57255" y="64922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갓생기록 &amp; 마이페이지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02920" cy="41148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8" name="Shape 6"/>
          <p:cNvSpPr/>
          <p:nvPr/>
        </p:nvSpPr>
        <p:spPr>
          <a:xfrm>
            <a:off x="8396935" y="36576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E6F2EA"/>
          </a:solidFill>
          <a:ln/>
        </p:spPr>
      </p:sp>
      <p:sp>
        <p:nvSpPr>
          <p:cNvPr id="9" name="Text 7"/>
          <p:cNvSpPr/>
          <p:nvPr/>
        </p:nvSpPr>
        <p:spPr>
          <a:xfrm>
            <a:off x="8396935" y="365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B2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배포 화면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1691640"/>
            <a:ext cx="2375248" cy="3986784"/>
          </a:xfrm>
          <a:prstGeom prst="roundRect">
            <a:avLst>
              <a:gd name="adj" fmla="val 8469"/>
            </a:avLst>
          </a:prstGeom>
          <a:solidFill>
            <a:srgbClr val="173B29"/>
          </a:solidFill>
          <a:ln/>
          <a:effectLst>
            <a:outerShdw sx="100000" sy="100000" kx="0" ky="0" algn="bl" rotWithShape="0" blurRad="127000" dist="38100" dir="5400000">
              <a:srgbClr val="B9B4A6">
                <a:alpha val="4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61944" y="1746504"/>
            <a:ext cx="457200" cy="64008"/>
          </a:xfrm>
          <a:prstGeom prst="roundRect">
            <a:avLst>
              <a:gd name="adj" fmla="val 50000"/>
            </a:avLst>
          </a:prstGeom>
          <a:solidFill>
            <a:srgbClr val="0B1D14"/>
          </a:solidFill>
          <a:ln/>
        </p:spPr>
      </p:sp>
      <p:pic>
        <p:nvPicPr>
          <p:cNvPr id="12" name="Image 0" descr="/home/claude/godlife_ppt/assets/reco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929384"/>
            <a:ext cx="2192368" cy="36576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3198208" y="1691640"/>
            <a:ext cx="2375248" cy="3986784"/>
          </a:xfrm>
          <a:prstGeom prst="roundRect">
            <a:avLst>
              <a:gd name="adj" fmla="val 8469"/>
            </a:avLst>
          </a:prstGeom>
          <a:solidFill>
            <a:srgbClr val="173B29"/>
          </a:solidFill>
          <a:ln/>
          <a:effectLst>
            <a:outerShdw sx="100000" sy="100000" kx="0" ky="0" algn="bl" rotWithShape="0" blurRad="127000" dist="38100" dir="5400000">
              <a:srgbClr val="B9B4A6">
                <a:alpha val="4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157231" y="1746504"/>
            <a:ext cx="457200" cy="64008"/>
          </a:xfrm>
          <a:prstGeom prst="roundRect">
            <a:avLst>
              <a:gd name="adj" fmla="val 50000"/>
            </a:avLst>
          </a:prstGeom>
          <a:solidFill>
            <a:srgbClr val="0B1D14"/>
          </a:solidFill>
          <a:ln/>
        </p:spPr>
      </p:sp>
      <p:pic>
        <p:nvPicPr>
          <p:cNvPr id="15" name="Image 1" descr="/home/claude/godlife_ppt/assets/mypag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648" y="1929384"/>
            <a:ext cx="2192368" cy="36576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094663" y="1911096"/>
            <a:ext cx="82296" cy="82296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17" name="Text 13"/>
          <p:cNvSpPr/>
          <p:nvPr/>
        </p:nvSpPr>
        <p:spPr>
          <a:xfrm>
            <a:off x="6332407" y="1773936"/>
            <a:ext cx="5356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· 실패 캘린더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6332407" y="2103120"/>
            <a:ext cx="53563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날짜를 누르면 그날의 미션 결과와 일기를 함께 확인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094663" y="3099816"/>
            <a:ext cx="82296" cy="82296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20" name="Text 16"/>
          <p:cNvSpPr/>
          <p:nvPr/>
        </p:nvSpPr>
        <p:spPr>
          <a:xfrm>
            <a:off x="6332407" y="2962656"/>
            <a:ext cx="5356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회고 리포트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6332407" y="3291840"/>
            <a:ext cx="53563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성공률 · 요일별 · 챌린지별 기록과 코칭 문구 제공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6094663" y="4288536"/>
            <a:ext cx="82296" cy="82296"/>
          </a:xfrm>
          <a:prstGeom prst="ellipse">
            <a:avLst/>
          </a:prstGeom>
          <a:solidFill>
            <a:srgbClr val="168B4A"/>
          </a:solidFill>
          <a:ln/>
        </p:spPr>
      </p:sp>
      <p:sp>
        <p:nvSpPr>
          <p:cNvPr id="23" name="Text 19"/>
          <p:cNvSpPr/>
          <p:nvPr/>
        </p:nvSpPr>
        <p:spPr>
          <a:xfrm>
            <a:off x="6332407" y="4151376"/>
            <a:ext cx="5356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뱃지 &amp; 티어</a:t>
            </a:r>
            <a:endParaRPr lang="en-US" sz="1450" dirty="0"/>
          </a:p>
        </p:txBody>
      </p:sp>
      <p:sp>
        <p:nvSpPr>
          <p:cNvPr id="24" name="Text 20"/>
          <p:cNvSpPr/>
          <p:nvPr/>
        </p:nvSpPr>
        <p:spPr>
          <a:xfrm>
            <a:off x="6332407" y="4480560"/>
            <a:ext cx="53563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기반 뱃지 15개와 관리자 뱃지, 착용 기능 · 티어 승급 · 강등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RESULT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92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RESULT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57255" y="64922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앱 (Flutter)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02920" cy="41148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8" name="Shape 6"/>
          <p:cNvSpPr/>
          <p:nvPr/>
        </p:nvSpPr>
        <p:spPr>
          <a:xfrm>
            <a:off x="8396935" y="36576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E6F2EA"/>
          </a:solidFill>
          <a:ln/>
        </p:spPr>
      </p:sp>
      <p:sp>
        <p:nvSpPr>
          <p:cNvPr id="9" name="Text 7"/>
          <p:cNvSpPr/>
          <p:nvPr/>
        </p:nvSpPr>
        <p:spPr>
          <a:xfrm>
            <a:off x="8396935" y="365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B2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백엔드, 웹 + 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19202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63040" y="189280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서버, 같은 계정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297680" y="1892808"/>
            <a:ext cx="7208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웹(React)과 똑같은 Spring Boot API를 써서, 홈 · 챌린지 인증 · 오픈채팅 · 커뮤니티 · 랭킹 · 갓생기록 등 매일 쓰는 흐름을 폰에 담음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94360" y="2953512"/>
            <a:ext cx="11002975" cy="0"/>
          </a:xfrm>
          <a:prstGeom prst="line">
            <a:avLst/>
          </a:prstGeom>
          <a:noFill/>
          <a:ln w="12700">
            <a:solidFill>
              <a:srgbClr val="DDD8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63040" y="331012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웹뷰로 이어지는 화면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297680" y="3310128"/>
            <a:ext cx="7208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 · 결제, 포인트 상점처럼 웹에만 있는 화면은 앱 안에서 웹 화면으로 연결 — 하단 탭 · 뒤로 가기 · 색을 앱과 동일하게 맞춤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94360" y="4370832"/>
            <a:ext cx="11002975" cy="0"/>
          </a:xfrm>
          <a:prstGeom prst="line">
            <a:avLst/>
          </a:prstGeom>
          <a:noFill/>
          <a:ln w="12700">
            <a:solidFill>
              <a:srgbClr val="DDD8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7548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63040" y="472744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빌드 배포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297680" y="4727448"/>
            <a:ext cx="7208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브랜치에 합쳐질 때마다 GitHub Actions가 안드로이드 APK를 자동으로 다시 빌드해 Releases 로 배포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92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57255" y="64922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서버 장애 격리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02920" cy="41148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8" name="Shape 6"/>
          <p:cNvSpPr/>
          <p:nvPr/>
        </p:nvSpPr>
        <p:spPr>
          <a:xfrm>
            <a:off x="8396935" y="36576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E6F2EA"/>
          </a:solidFill>
          <a:ln/>
        </p:spPr>
      </p:sp>
      <p:sp>
        <p:nvSpPr>
          <p:cNvPr id="9" name="Text 7"/>
          <p:cNvSpPr/>
          <p:nvPr/>
        </p:nvSpPr>
        <p:spPr>
          <a:xfrm>
            <a:off x="8396935" y="365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B2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· 가용성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9C6B3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828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965960" y="1737360"/>
            <a:ext cx="97228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판정을 맡는 AI 서버(Python · FastAPI)가 꺼지거나 응답이 늦으면, 사용자가 사진 인증 자체를 올리지 못하는 상황이 생길 수 있음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306324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68B4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0632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65960" y="2971800"/>
            <a:ext cx="97228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API · React 화면 · FastAPI AI 서버 · MySQL 로 역할을 분리하고, 백엔드가 HTTP 로 AI 서버를 호출하도록 구성. 연결 실패나 시간 초과는 "판정 불가"로 처리해 인증은 그대로 접수하고, 모델 파일이 없을 때는 오류 코드(503)로 바로 드러나게 하며, 애매한 판정은 관리자 검토 큐로 모음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50292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D2A94E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5029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965960" y="4937760"/>
            <a:ext cx="97228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서버 상태와 관계없이 핵심 기능(사진 인증)은 항상 동작 — 부가 기능 하나의 장애가 서비스 전체를 막지 않는 구조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92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57255" y="64922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포인트 이중 지급 방지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02920" cy="41148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8" name="Shape 6"/>
          <p:cNvSpPr/>
          <p:nvPr/>
        </p:nvSpPr>
        <p:spPr>
          <a:xfrm>
            <a:off x="8396935" y="36576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E6F2EA"/>
          </a:solidFill>
          <a:ln/>
        </p:spPr>
      </p:sp>
      <p:sp>
        <p:nvSpPr>
          <p:cNvPr id="9" name="Text 7"/>
          <p:cNvSpPr/>
          <p:nvPr/>
        </p:nvSpPr>
        <p:spPr>
          <a:xfrm>
            <a:off x="8396935" y="365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B2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· 데이터 정합성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9C6B3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828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965960" y="1737360"/>
            <a:ext cx="97228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실제로 충전한 포인트를 거는 서비스라서, 같은 정산 배치가 두 번 실행되거나 요청이 동시에 들어오면 포인트가 중복 지급될 위험이 있음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3200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68B4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2004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65960" y="3108960"/>
            <a:ext cx="97228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자정 스케줄러가 챌린지 결과를 정산할 때, DB 트랜잭션 안에서 대상 행을 잠그고(SELECT … FOR UPDATE), 정산(challenge_id UNIQUE)과 거래(idempotency_key UNIQUE)마다 고유 키를 둬 이미 처리된 요청은 다시 처리하지 않도록 함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489204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D2A94E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892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965960" y="4800600"/>
            <a:ext cx="97228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배치가 중복 실행돼도 포인트는 정확히 한 번만 지급 — 실제 돈이 걸린 서비스에서 "사용자가 믿고 쓸 수 있는가"를 지키는 핵심 장치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WRAP UP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92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WRAP 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57255" y="649224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9A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소감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261872"/>
            <a:ext cx="502920" cy="41148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9202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63040" y="189280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기획이 기능보다 먼저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297680" y="1892808"/>
            <a:ext cx="7208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사용자에게 오해받지 않는 서비스 구조를 고민하며, 기능을 많이 만드는 것보다 "어떻게 설계할지"가 먼저라는 것을 배움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94360" y="2953512"/>
            <a:ext cx="11002975" cy="0"/>
          </a:xfrm>
          <a:prstGeom prst="line">
            <a:avLst/>
          </a:prstGeom>
          <a:noFill/>
          <a:ln w="12700">
            <a:solidFill>
              <a:srgbClr val="DDD8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337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63040" y="331012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안정성을 몸으로 체득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297680" y="3310128"/>
            <a:ext cx="7208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부가 기능(AI 서버) 장애가 핵심 기능을 막으면 안 된다는 것을 직접 설계하고 고치며 배움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94360" y="4370832"/>
            <a:ext cx="11002975" cy="0"/>
          </a:xfrm>
          <a:prstGeom prst="line">
            <a:avLst/>
          </a:prstGeom>
          <a:noFill/>
          <a:ln w="12700">
            <a:solidFill>
              <a:srgbClr val="DDD8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7548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463040" y="472744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있는 코드로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297680" y="4727448"/>
            <a:ext cx="7208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동작은 하지만 내가 왜 이렇게 만들었는지 설명하지 못하는 부분이 있다는 걸 깨닫고, 기능별로 코드 흐름을 다시 읽고 정리함 → 포인트 정산이 두 번 지급되지 않는 원리, AI 서버가 꺼져도 인증이 막히지 않는 처리 같은 핵심 로직을 직접 설명할 수 있게 됨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3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68B4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49808" y="3246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100" kern="0" dirty="0">
                <a:solidFill>
                  <a:srgbClr val="AFC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Questions &amp; Answers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9808" y="4114800"/>
            <a:ext cx="7315200" cy="0"/>
          </a:xfrm>
          <a:prstGeom prst="line">
            <a:avLst/>
          </a:prstGeom>
          <a:noFill/>
          <a:ln w="12700">
            <a:solidFill>
              <a:srgbClr val="11271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43891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94560" y="4389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github.com/nae442939-prog/GodLife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49808" y="47731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주소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94560" y="47731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mygodlife.duckdns.org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51572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8B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기록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94560" y="515721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velog.io/@tmdgml05/posts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716975" y="6035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조승희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2026-10-22T07:50:00Z</dcterms:created>
  <dcterms:modified xsi:type="dcterms:W3CDTF">2026-10-22T07:50:00Z</dcterms:modified>
</cp:coreProperties>
</file>